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3"/>
  </p:notesMasterIdLst>
  <p:handoutMasterIdLst>
    <p:handoutMasterId r:id="rId14"/>
  </p:handoutMasterIdLst>
  <p:sldIdLst>
    <p:sldId id="258" r:id="rId5"/>
    <p:sldId id="272" r:id="rId6"/>
    <p:sldId id="271" r:id="rId7"/>
    <p:sldId id="269" r:id="rId8"/>
    <p:sldId id="273" r:id="rId9"/>
    <p:sldId id="280" r:id="rId10"/>
    <p:sldId id="267" r:id="rId11"/>
    <p:sldId id="274" r:id="rId1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EF09A9-DFDD-47AD-B6A6-70022D01FC4C}" v="123" dt="2026-06-22T23:09:42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223FF85-4E34-4546-B772-76DFA4A6051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B5CC398-6116-4BD2-9FAD-9822FDA158B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6/20/2026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6/20/2026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6/20/2026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6/20/2026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6/20/2026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6/20/2026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6/20/2026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6/20/2026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6/20/2026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6/20/2026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6/20/2026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6/20/2026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6/20/2026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6/20/2026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x/c/96da2fc03f155a85/IQD4mGVcUPogSJevcF02TeFoAbbEdrL4u7J5OcH7CsNuQRE?e=ee4Sc5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HT-BDS</a:t>
            </a:r>
            <a:br>
              <a:rPr lang="en-US" dirty="0"/>
            </a:br>
            <a:r>
              <a:rPr lang="en-US" sz="1800" cap="none" dirty="0"/>
              <a:t>High Temperature Broadband Dielectric Spectroscopy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3200" dirty="0"/>
            </a:br>
            <a:r>
              <a:rPr lang="en-US" sz="2000" cap="none" dirty="0"/>
              <a:t>An Automated High Temperature Capacitor Characterization System</a:t>
            </a:r>
            <a:endParaRPr lang="en-US" sz="20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Matthew Wang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D6D1BAE-ACE8-85AE-1B09-50C4EBE12E41}"/>
              </a:ext>
            </a:extLst>
          </p:cNvPr>
          <p:cNvSpPr txBox="1">
            <a:spLocks/>
          </p:cNvSpPr>
          <p:nvPr/>
        </p:nvSpPr>
        <p:spPr>
          <a:xfrm>
            <a:off x="228600" y="439870"/>
            <a:ext cx="10668000" cy="7966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11000" b="0" i="0" kern="1200" cap="all" spc="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Problem &amp; mission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F763F-4B5B-3D65-B8A5-7B8107D9C7F4}"/>
              </a:ext>
            </a:extLst>
          </p:cNvPr>
          <p:cNvSpPr txBox="1"/>
          <p:nvPr/>
        </p:nvSpPr>
        <p:spPr>
          <a:xfrm>
            <a:off x="573024" y="1752600"/>
            <a:ext cx="5334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Problem:</a:t>
            </a:r>
          </a:p>
          <a:p>
            <a:endParaRPr lang="en-US" sz="2400" dirty="0"/>
          </a:p>
          <a:p>
            <a:r>
              <a:rPr lang="en-US" sz="2000" dirty="0"/>
              <a:t>Manual capacitor characterization is time consuming and error prone</a:t>
            </a:r>
          </a:p>
          <a:p>
            <a:endParaRPr lang="en-US" sz="2000" dirty="0"/>
          </a:p>
          <a:p>
            <a:r>
              <a:rPr lang="en-US" sz="2000" dirty="0"/>
              <a:t>Issues:</a:t>
            </a:r>
          </a:p>
          <a:p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Commanding 3 different subsystems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Operator dependent and data handling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Limited repeatability, traceability, and scalability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sz="2400" dirty="0"/>
          </a:p>
          <a:p>
            <a:pPr marL="285750" indent="-285750">
              <a:buFontTx/>
              <a:buChar char="-"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AB5A-71DA-C741-F68B-410F879244D6}"/>
              </a:ext>
            </a:extLst>
          </p:cNvPr>
          <p:cNvSpPr txBox="1"/>
          <p:nvPr/>
        </p:nvSpPr>
        <p:spPr>
          <a:xfrm>
            <a:off x="6749796" y="1752600"/>
            <a:ext cx="48006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Mission:</a:t>
            </a:r>
          </a:p>
          <a:p>
            <a:endParaRPr lang="en-US" sz="3200" dirty="0"/>
          </a:p>
          <a:p>
            <a:r>
              <a:rPr lang="en-US" sz="2800" dirty="0"/>
              <a:t>Transform the existing test hardware into a repeatable automated test system that could handle the test workflow end-to-end.</a:t>
            </a:r>
            <a:endParaRPr lang="en-US" sz="32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B5FEF9-877A-E815-60CB-C77F62964C0D}"/>
              </a:ext>
            </a:extLst>
          </p:cNvPr>
          <p:cNvCxnSpPr>
            <a:cxnSpLocks/>
          </p:cNvCxnSpPr>
          <p:nvPr/>
        </p:nvCxnSpPr>
        <p:spPr>
          <a:xfrm>
            <a:off x="609600" y="2362200"/>
            <a:ext cx="475488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C07771-1E1F-41D4-E713-67D8EF027CA6}"/>
              </a:ext>
            </a:extLst>
          </p:cNvPr>
          <p:cNvCxnSpPr>
            <a:cxnSpLocks/>
          </p:cNvCxnSpPr>
          <p:nvPr/>
        </p:nvCxnSpPr>
        <p:spPr>
          <a:xfrm>
            <a:off x="6781800" y="2334768"/>
            <a:ext cx="475488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B27A9A-55DC-7186-D987-88D87AA437B9}"/>
              </a:ext>
            </a:extLst>
          </p:cNvPr>
          <p:cNvCxnSpPr>
            <a:cxnSpLocks/>
          </p:cNvCxnSpPr>
          <p:nvPr/>
        </p:nvCxnSpPr>
        <p:spPr>
          <a:xfrm>
            <a:off x="152400" y="1236532"/>
            <a:ext cx="7620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774AA6-228C-0FC4-0E81-F245ECC5EF34}"/>
              </a:ext>
            </a:extLst>
          </p:cNvPr>
          <p:cNvCxnSpPr>
            <a:cxnSpLocks/>
          </p:cNvCxnSpPr>
          <p:nvPr/>
        </p:nvCxnSpPr>
        <p:spPr>
          <a:xfrm>
            <a:off x="11430000" y="0"/>
            <a:ext cx="762000" cy="6096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146BBB3-4DE5-E42E-ED44-ABD9C8D5660D}"/>
              </a:ext>
            </a:extLst>
          </p:cNvPr>
          <p:cNvCxnSpPr>
            <a:cxnSpLocks/>
          </p:cNvCxnSpPr>
          <p:nvPr/>
        </p:nvCxnSpPr>
        <p:spPr>
          <a:xfrm>
            <a:off x="10896600" y="0"/>
            <a:ext cx="1295400" cy="9906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947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6D47175-9C89-9D7F-0D7F-2021531C503B}"/>
              </a:ext>
            </a:extLst>
          </p:cNvPr>
          <p:cNvSpPr txBox="1">
            <a:spLocks/>
          </p:cNvSpPr>
          <p:nvPr/>
        </p:nvSpPr>
        <p:spPr>
          <a:xfrm>
            <a:off x="707326" y="821303"/>
            <a:ext cx="6397753" cy="7875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11000" b="0" i="0" kern="1200" cap="all" spc="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CE5DE-77A9-A157-F0EB-7D808C0D50A3}"/>
              </a:ext>
            </a:extLst>
          </p:cNvPr>
          <p:cNvSpPr/>
          <p:nvPr/>
        </p:nvSpPr>
        <p:spPr>
          <a:xfrm>
            <a:off x="856870" y="2180514"/>
            <a:ext cx="1452372" cy="17526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Operator Input</a:t>
            </a:r>
          </a:p>
          <a:p>
            <a:pPr algn="ctr"/>
            <a:endParaRPr lang="en-US" sz="1400" dirty="0"/>
          </a:p>
          <a:p>
            <a:pPr marL="171450" indent="-171450" algn="ctr">
              <a:buFontTx/>
              <a:buChar char="-"/>
            </a:pPr>
            <a:r>
              <a:rPr lang="en-US" sz="1050" dirty="0"/>
              <a:t>Temperature profile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Frequencies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Probes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Manual commands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3DB6FBA-C621-08C6-BE5C-0C79083F5F7D}"/>
              </a:ext>
            </a:extLst>
          </p:cNvPr>
          <p:cNvSpPr/>
          <p:nvPr/>
        </p:nvSpPr>
        <p:spPr>
          <a:xfrm>
            <a:off x="2673876" y="2904414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5496A2-33FC-703C-7451-BC1E2CBB3DFE}"/>
              </a:ext>
            </a:extLst>
          </p:cNvPr>
          <p:cNvSpPr/>
          <p:nvPr/>
        </p:nvSpPr>
        <p:spPr>
          <a:xfrm>
            <a:off x="3538919" y="2328938"/>
            <a:ext cx="2470404" cy="25146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Software Contro</a:t>
            </a:r>
            <a:r>
              <a:rPr lang="en-US" dirty="0"/>
              <a:t>l</a:t>
            </a:r>
          </a:p>
          <a:p>
            <a:pPr algn="ctr"/>
            <a:endParaRPr lang="en-US" dirty="0"/>
          </a:p>
          <a:p>
            <a:pPr marL="171450" indent="-171450" algn="ctr">
              <a:buFontTx/>
              <a:buChar char="-"/>
            </a:pPr>
            <a:r>
              <a:rPr lang="en-US" sz="1200" dirty="0"/>
              <a:t>Program chamber</a:t>
            </a:r>
          </a:p>
          <a:p>
            <a:pPr marL="171450" indent="-171450" algn="ctr">
              <a:buFontTx/>
              <a:buChar char="-"/>
            </a:pPr>
            <a:r>
              <a:rPr lang="en-US" sz="1200" dirty="0"/>
              <a:t>Monitor and stabilize DUT temperature</a:t>
            </a:r>
          </a:p>
          <a:p>
            <a:pPr marL="171450" indent="-171450" algn="ctr">
              <a:buFontTx/>
              <a:buChar char="-"/>
            </a:pPr>
            <a:r>
              <a:rPr lang="en-US" sz="1200" dirty="0"/>
              <a:t>Switch probes</a:t>
            </a:r>
          </a:p>
          <a:p>
            <a:pPr marL="171450" indent="-171450" algn="ctr">
              <a:buFontTx/>
              <a:buChar char="-"/>
            </a:pPr>
            <a:r>
              <a:rPr lang="en-US" sz="1200" dirty="0"/>
              <a:t>LCR sweep</a:t>
            </a:r>
          </a:p>
          <a:p>
            <a:pPr marL="171450" indent="-171450" algn="ctr">
              <a:buFontTx/>
              <a:buChar char="-"/>
            </a:pPr>
            <a:r>
              <a:rPr lang="en-US" sz="1200" dirty="0"/>
              <a:t>Log Data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8EAB54A-C269-6039-EE2A-03B28516EA71}"/>
              </a:ext>
            </a:extLst>
          </p:cNvPr>
          <p:cNvSpPr/>
          <p:nvPr/>
        </p:nvSpPr>
        <p:spPr>
          <a:xfrm>
            <a:off x="6194870" y="2557538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0E1D8-864E-3997-4151-1FA1EC045A04}"/>
              </a:ext>
            </a:extLst>
          </p:cNvPr>
          <p:cNvSpPr/>
          <p:nvPr/>
        </p:nvSpPr>
        <p:spPr>
          <a:xfrm>
            <a:off x="7239000" y="2057400"/>
            <a:ext cx="1377696" cy="13716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Instrument Interfacing</a:t>
            </a:r>
            <a:endParaRPr lang="en-US" sz="1400" dirty="0"/>
          </a:p>
          <a:p>
            <a:pPr algn="ctr"/>
            <a:endParaRPr lang="en-US" sz="1400" dirty="0"/>
          </a:p>
          <a:p>
            <a:pPr marL="171450" indent="-171450" algn="ctr">
              <a:buFontTx/>
              <a:buChar char="-"/>
            </a:pPr>
            <a:r>
              <a:rPr lang="en-US" sz="1050" dirty="0" err="1"/>
              <a:t>PyVISA</a:t>
            </a:r>
            <a:endParaRPr lang="en-US" sz="1050" dirty="0"/>
          </a:p>
          <a:p>
            <a:pPr marL="171450" indent="-171450" algn="ctr">
              <a:buFontTx/>
              <a:buChar char="-"/>
            </a:pPr>
            <a:r>
              <a:rPr lang="en-US" sz="1050" dirty="0"/>
              <a:t>SCPI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NI-DAQmx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5B1826-6075-0AEB-552E-74C675817347}"/>
              </a:ext>
            </a:extLst>
          </p:cNvPr>
          <p:cNvSpPr/>
          <p:nvPr/>
        </p:nvSpPr>
        <p:spPr>
          <a:xfrm>
            <a:off x="9965627" y="1481926"/>
            <a:ext cx="1706880" cy="1676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Hardware</a:t>
            </a:r>
          </a:p>
          <a:p>
            <a:pPr algn="ctr"/>
            <a:endParaRPr lang="en-US" sz="1400" dirty="0"/>
          </a:p>
          <a:p>
            <a:pPr marL="171450" indent="-171450" algn="ctr">
              <a:buFontTx/>
              <a:buChar char="-"/>
            </a:pPr>
            <a:r>
              <a:rPr lang="en-US" sz="1050" dirty="0" err="1"/>
              <a:t>SunSystems</a:t>
            </a:r>
            <a:r>
              <a:rPr lang="en-US" sz="1050" dirty="0"/>
              <a:t> EC1A Temperature Chamber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Keysight E4980A LCR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NI USB-6501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Probe fixture</a:t>
            </a:r>
          </a:p>
          <a:p>
            <a:pPr marL="171450" indent="-171450" algn="ctr">
              <a:buFontTx/>
              <a:buChar char="-"/>
            </a:pPr>
            <a:endParaRPr lang="en-US" sz="105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8874082-8B5B-13A6-79F0-C81EA291D4BC}"/>
              </a:ext>
            </a:extLst>
          </p:cNvPr>
          <p:cNvSpPr/>
          <p:nvPr/>
        </p:nvSpPr>
        <p:spPr>
          <a:xfrm>
            <a:off x="8975027" y="2438400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AD24338-E6F1-E544-3785-1FF64D134057}"/>
              </a:ext>
            </a:extLst>
          </p:cNvPr>
          <p:cNvSpPr/>
          <p:nvPr/>
        </p:nvSpPr>
        <p:spPr>
          <a:xfrm>
            <a:off x="6413183" y="4538738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8529F3-560A-971D-B96C-A880D3E82C70}"/>
              </a:ext>
            </a:extLst>
          </p:cNvPr>
          <p:cNvSpPr/>
          <p:nvPr/>
        </p:nvSpPr>
        <p:spPr>
          <a:xfrm>
            <a:off x="7502843" y="3874540"/>
            <a:ext cx="2042159" cy="180719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Output</a:t>
            </a:r>
          </a:p>
          <a:p>
            <a:pPr algn="ctr"/>
            <a:endParaRPr lang="en-US" sz="1400" dirty="0"/>
          </a:p>
          <a:p>
            <a:pPr marL="171450" indent="-171450" algn="ctr">
              <a:buFontTx/>
              <a:buChar char="-"/>
            </a:pPr>
            <a:r>
              <a:rPr lang="en-US" sz="1050" dirty="0"/>
              <a:t>Live plots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Temperature log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Probe tagged Cp/</a:t>
            </a:r>
            <a:r>
              <a:rPr lang="en-US" sz="1050" dirty="0" err="1"/>
              <a:t>Df</a:t>
            </a:r>
            <a:r>
              <a:rPr lang="en-US" sz="1050" dirty="0"/>
              <a:t>/ESR</a:t>
            </a:r>
          </a:p>
          <a:p>
            <a:pPr marL="171450" indent="-171450" algn="ctr">
              <a:buFontTx/>
              <a:buChar char="-"/>
            </a:pPr>
            <a:r>
              <a:rPr lang="en-US" sz="1050" dirty="0"/>
              <a:t>Excel export</a:t>
            </a:r>
          </a:p>
          <a:p>
            <a:pPr marL="171450" indent="-171450" algn="ctr">
              <a:buFontTx/>
              <a:buChar char="-"/>
            </a:pPr>
            <a:endParaRPr lang="en-US" sz="105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1F0CD1-F55A-292E-8BAA-078928930A17}"/>
              </a:ext>
            </a:extLst>
          </p:cNvPr>
          <p:cNvCxnSpPr>
            <a:cxnSpLocks/>
          </p:cNvCxnSpPr>
          <p:nvPr/>
        </p:nvCxnSpPr>
        <p:spPr>
          <a:xfrm>
            <a:off x="445788" y="1608881"/>
            <a:ext cx="5749082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026712-8420-DFD0-C685-2715642E48B7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419100" cy="43525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495636-0FF4-378A-560C-2CD6190B8F9D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838200" cy="87050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37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C7B9B7A-3829-826F-10C6-611046A4E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/>
          <a:p>
            <a:r>
              <a:rPr lang="en-US" dirty="0"/>
              <a:t>Test bench setup</a:t>
            </a:r>
            <a:br>
              <a:rPr lang="en-US" dirty="0"/>
            </a:br>
            <a:br>
              <a:rPr lang="en-US" sz="1200" dirty="0"/>
            </a:br>
            <a:r>
              <a:rPr lang="en-US" sz="1200" dirty="0"/>
              <a:t>Left to right: HT-BDS GUI, Keysight LCR, </a:t>
            </a:r>
            <a:r>
              <a:rPr lang="en-US" sz="1200" dirty="0" err="1"/>
              <a:t>SunSystems</a:t>
            </a:r>
            <a:r>
              <a:rPr lang="en-US" sz="1200" dirty="0"/>
              <a:t> Oven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7F66B45-1E44-2DE5-A171-6CECC75F900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 t="36038" r="-1" b="1222"/>
          <a:stretch>
            <a:fillRect/>
          </a:stretch>
        </p:blipFill>
        <p:spPr>
          <a:xfrm>
            <a:off x="612649" y="838200"/>
            <a:ext cx="10115679" cy="3474720"/>
          </a:xfrm>
          <a:prstGeom prst="rect">
            <a:avLst/>
          </a:prstGeom>
          <a:noFill/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767453-5D04-44AF-6AB2-C13EA5241481}"/>
              </a:ext>
            </a:extLst>
          </p:cNvPr>
          <p:cNvCxnSpPr>
            <a:cxnSpLocks/>
          </p:cNvCxnSpPr>
          <p:nvPr/>
        </p:nvCxnSpPr>
        <p:spPr>
          <a:xfrm flipV="1">
            <a:off x="8077200" y="5894140"/>
            <a:ext cx="4114800" cy="96386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37CAB3-1DEC-055E-3FA0-37A003475D07}"/>
              </a:ext>
            </a:extLst>
          </p:cNvPr>
          <p:cNvCxnSpPr>
            <a:cxnSpLocks/>
          </p:cNvCxnSpPr>
          <p:nvPr/>
        </p:nvCxnSpPr>
        <p:spPr>
          <a:xfrm flipV="1">
            <a:off x="10134600" y="6376070"/>
            <a:ext cx="2057400" cy="46669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379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AB2286E8-9790-2B53-3C58-8C0D04AA6153}"/>
              </a:ext>
            </a:extLst>
          </p:cNvPr>
          <p:cNvSpPr txBox="1">
            <a:spLocks/>
          </p:cNvSpPr>
          <p:nvPr/>
        </p:nvSpPr>
        <p:spPr>
          <a:xfrm>
            <a:off x="528827" y="129541"/>
            <a:ext cx="8996173" cy="9121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11000" b="0" i="0" kern="1200" cap="all" spc="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Automated Test Workflow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2F7985-3284-12C5-B63F-CB7F6CB49C77}"/>
              </a:ext>
            </a:extLst>
          </p:cNvPr>
          <p:cNvSpPr/>
          <p:nvPr/>
        </p:nvSpPr>
        <p:spPr>
          <a:xfrm>
            <a:off x="1957575" y="2138172"/>
            <a:ext cx="1189483" cy="123901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1. </a:t>
            </a:r>
          </a:p>
          <a:p>
            <a:pPr algn="ctr"/>
            <a:r>
              <a:rPr lang="en-US" sz="2000" dirty="0"/>
              <a:t>Test Setup</a:t>
            </a:r>
            <a:endParaRPr lang="en-US" sz="1400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DED31AD-247C-8B11-9BCF-9F00BB440F5E}"/>
              </a:ext>
            </a:extLst>
          </p:cNvPr>
          <p:cNvSpPr/>
          <p:nvPr/>
        </p:nvSpPr>
        <p:spPr>
          <a:xfrm>
            <a:off x="3537204" y="2567940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A43618-DB43-0B41-A668-924C382681CB}"/>
              </a:ext>
            </a:extLst>
          </p:cNvPr>
          <p:cNvSpPr/>
          <p:nvPr/>
        </p:nvSpPr>
        <p:spPr>
          <a:xfrm>
            <a:off x="4498846" y="2069592"/>
            <a:ext cx="1295400" cy="129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2.</a:t>
            </a:r>
          </a:p>
          <a:p>
            <a:pPr algn="ctr"/>
            <a:r>
              <a:rPr lang="en-US" sz="2000" dirty="0"/>
              <a:t>Program Chamber</a:t>
            </a:r>
            <a:endParaRPr lang="en-US" sz="1400" dirty="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708B3279-E1EB-5D6E-61FB-E04563260C9F}"/>
              </a:ext>
            </a:extLst>
          </p:cNvPr>
          <p:cNvSpPr/>
          <p:nvPr/>
        </p:nvSpPr>
        <p:spPr>
          <a:xfrm>
            <a:off x="5992367" y="2564892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4C8AD3-2F7F-391E-9986-33394DDA630D}"/>
              </a:ext>
            </a:extLst>
          </p:cNvPr>
          <p:cNvSpPr/>
          <p:nvPr/>
        </p:nvSpPr>
        <p:spPr>
          <a:xfrm>
            <a:off x="6868668" y="2182368"/>
            <a:ext cx="1508760" cy="107594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3.</a:t>
            </a:r>
          </a:p>
          <a:p>
            <a:pPr algn="ctr"/>
            <a:r>
              <a:rPr lang="en-US" sz="2000" dirty="0"/>
              <a:t>Oven</a:t>
            </a:r>
          </a:p>
          <a:p>
            <a:pPr algn="ctr"/>
            <a:r>
              <a:rPr lang="en-US" sz="2000" dirty="0"/>
              <a:t>Breakpoint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69A836-FAF7-65D8-FAAC-304254A8BF9F}"/>
              </a:ext>
            </a:extLst>
          </p:cNvPr>
          <p:cNvSpPr/>
          <p:nvPr/>
        </p:nvSpPr>
        <p:spPr>
          <a:xfrm>
            <a:off x="9515856" y="2243328"/>
            <a:ext cx="1295400" cy="94792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</a:t>
            </a:r>
            <a:endParaRPr lang="en-US" sz="1400" dirty="0"/>
          </a:p>
          <a:p>
            <a:pPr algn="ctr"/>
            <a:r>
              <a:rPr lang="en-US" sz="1400" dirty="0"/>
              <a:t>Temperature Stabilization</a:t>
            </a:r>
            <a:endParaRPr lang="en-US" sz="1050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EE54A203-EDFA-7D04-F376-63D5D300DA82}"/>
              </a:ext>
            </a:extLst>
          </p:cNvPr>
          <p:cNvSpPr/>
          <p:nvPr/>
        </p:nvSpPr>
        <p:spPr>
          <a:xfrm>
            <a:off x="8567930" y="2564892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FACB898-CC9D-2A09-768A-581BEB5970BA}"/>
              </a:ext>
            </a:extLst>
          </p:cNvPr>
          <p:cNvSpPr/>
          <p:nvPr/>
        </p:nvSpPr>
        <p:spPr>
          <a:xfrm rot="5400000">
            <a:off x="9820656" y="3619500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CA6DF43B-31EE-C282-EFA7-4E6DADC740AA}"/>
              </a:ext>
            </a:extLst>
          </p:cNvPr>
          <p:cNvSpPr/>
          <p:nvPr/>
        </p:nvSpPr>
        <p:spPr>
          <a:xfrm rot="10800000">
            <a:off x="8461248" y="4832604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6BF268-B07D-E092-37F2-74DC440702CB}"/>
              </a:ext>
            </a:extLst>
          </p:cNvPr>
          <p:cNvSpPr/>
          <p:nvPr/>
        </p:nvSpPr>
        <p:spPr>
          <a:xfrm>
            <a:off x="6784847" y="4511040"/>
            <a:ext cx="1295400" cy="94792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</a:t>
            </a:r>
          </a:p>
          <a:p>
            <a:pPr algn="ctr"/>
            <a:r>
              <a:rPr lang="en-US" dirty="0"/>
              <a:t>LCR Sweep</a:t>
            </a:r>
            <a:endParaRPr lang="en-US" sz="1200" dirty="0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269DFC1D-8DD6-186C-76EC-C057658DBC76}"/>
              </a:ext>
            </a:extLst>
          </p:cNvPr>
          <p:cNvSpPr/>
          <p:nvPr/>
        </p:nvSpPr>
        <p:spPr>
          <a:xfrm rot="10800000">
            <a:off x="5718047" y="4832605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6E2B4E-3302-7957-4DAD-5F73E0435AFC}"/>
              </a:ext>
            </a:extLst>
          </p:cNvPr>
          <p:cNvSpPr/>
          <p:nvPr/>
        </p:nvSpPr>
        <p:spPr>
          <a:xfrm>
            <a:off x="4303773" y="4527803"/>
            <a:ext cx="1138433" cy="94792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</a:t>
            </a:r>
          </a:p>
          <a:p>
            <a:pPr algn="ctr"/>
            <a:r>
              <a:rPr lang="en-US" dirty="0"/>
              <a:t>Log/Plot</a:t>
            </a:r>
            <a:endParaRPr lang="en-US" sz="1200" dirty="0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1305375A-A0C8-C991-32D9-FBF44C0E4C51}"/>
              </a:ext>
            </a:extLst>
          </p:cNvPr>
          <p:cNvSpPr/>
          <p:nvPr/>
        </p:nvSpPr>
        <p:spPr>
          <a:xfrm rot="10800000">
            <a:off x="3396997" y="4849367"/>
            <a:ext cx="685800" cy="30480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A07ED92-5AE3-52C2-7CFF-62C48545DD11}"/>
              </a:ext>
            </a:extLst>
          </p:cNvPr>
          <p:cNvSpPr/>
          <p:nvPr/>
        </p:nvSpPr>
        <p:spPr>
          <a:xfrm>
            <a:off x="2099304" y="4527804"/>
            <a:ext cx="1007366" cy="103632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8.</a:t>
            </a:r>
          </a:p>
          <a:p>
            <a:pPr algn="ctr"/>
            <a:r>
              <a:rPr lang="en-US" sz="2000" dirty="0"/>
              <a:t>Export</a:t>
            </a:r>
            <a:endParaRPr lang="en-US" sz="1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282CB8-429B-814A-DCE1-08C006869956}"/>
              </a:ext>
            </a:extLst>
          </p:cNvPr>
          <p:cNvSpPr/>
          <p:nvPr/>
        </p:nvSpPr>
        <p:spPr>
          <a:xfrm>
            <a:off x="9525000" y="4572000"/>
            <a:ext cx="1295400" cy="94792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</a:t>
            </a:r>
          </a:p>
          <a:p>
            <a:pPr algn="ctr"/>
            <a:r>
              <a:rPr lang="en-US" dirty="0"/>
              <a:t>Probe Switch</a:t>
            </a:r>
          </a:p>
        </p:txBody>
      </p: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C0DBFCC2-50C4-02FD-05E2-0AEFAD8EB6C2}"/>
              </a:ext>
            </a:extLst>
          </p:cNvPr>
          <p:cNvCxnSpPr>
            <a:cxnSpLocks/>
            <a:stCxn id="43" idx="0"/>
            <a:endCxn id="46" idx="0"/>
          </p:cNvCxnSpPr>
          <p:nvPr/>
        </p:nvCxnSpPr>
        <p:spPr>
          <a:xfrm rot="16200000" flipH="1">
            <a:off x="7500746" y="1900046"/>
            <a:ext cx="44197" cy="5299710"/>
          </a:xfrm>
          <a:prstGeom prst="curvedConnector3">
            <a:avLst>
              <a:gd name="adj1" fmla="val -1448241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1EB949F-E3A6-B786-AD59-92B72AC6CF55}"/>
              </a:ext>
            </a:extLst>
          </p:cNvPr>
          <p:cNvCxnSpPr>
            <a:cxnSpLocks/>
          </p:cNvCxnSpPr>
          <p:nvPr/>
        </p:nvCxnSpPr>
        <p:spPr>
          <a:xfrm>
            <a:off x="528827" y="1041656"/>
            <a:ext cx="8618221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D1113ED-9669-3E60-DF5F-0FE272BFB718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419100" cy="43525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264B9F-015B-2710-464A-A1C57B807EF0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838200" cy="87050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283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B3990F-86AF-0AE3-B06A-B266DD0D3DC7}"/>
              </a:ext>
            </a:extLst>
          </p:cNvPr>
          <p:cNvSpPr txBox="1">
            <a:spLocks/>
          </p:cNvSpPr>
          <p:nvPr/>
        </p:nvSpPr>
        <p:spPr>
          <a:xfrm>
            <a:off x="228600" y="-457200"/>
            <a:ext cx="11314177" cy="15279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11000" b="0" i="0" kern="1200" cap="all" spc="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Technical challenges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91885F-AFA4-5EEC-BF4E-D28437691E26}"/>
              </a:ext>
            </a:extLst>
          </p:cNvPr>
          <p:cNvCxnSpPr>
            <a:cxnSpLocks/>
          </p:cNvCxnSpPr>
          <p:nvPr/>
        </p:nvCxnSpPr>
        <p:spPr>
          <a:xfrm>
            <a:off x="0" y="1070776"/>
            <a:ext cx="92202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DFCED-44AD-0334-1D14-D548B18F0C25}"/>
              </a:ext>
            </a:extLst>
          </p:cNvPr>
          <p:cNvCxnSpPr>
            <a:cxnSpLocks/>
          </p:cNvCxnSpPr>
          <p:nvPr/>
        </p:nvCxnSpPr>
        <p:spPr>
          <a:xfrm>
            <a:off x="381000" y="1219200"/>
            <a:ext cx="92202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0AF05-B6DF-4B33-87E1-C106455287FF}"/>
              </a:ext>
            </a:extLst>
          </p:cNvPr>
          <p:cNvCxnSpPr>
            <a:cxnSpLocks/>
          </p:cNvCxnSpPr>
          <p:nvPr/>
        </p:nvCxnSpPr>
        <p:spPr>
          <a:xfrm flipV="1">
            <a:off x="8305800" y="0"/>
            <a:ext cx="685800" cy="107077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B74676-1959-4DF2-96C5-69DB3570ED05}"/>
              </a:ext>
            </a:extLst>
          </p:cNvPr>
          <p:cNvCxnSpPr/>
          <p:nvPr/>
        </p:nvCxnSpPr>
        <p:spPr>
          <a:xfrm flipV="1">
            <a:off x="0" y="0"/>
            <a:ext cx="228600" cy="2286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CA50A0-1BDC-0923-7497-6B9742BFD97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457200" cy="4572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69E922-7F54-A611-5088-0E3B2BC09D40}"/>
              </a:ext>
            </a:extLst>
          </p:cNvPr>
          <p:cNvSpPr txBox="1"/>
          <p:nvPr/>
        </p:nvSpPr>
        <p:spPr>
          <a:xfrm>
            <a:off x="419099" y="1682366"/>
            <a:ext cx="32766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Coordinating 3 Subsystems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Problem:</a:t>
            </a:r>
          </a:p>
          <a:p>
            <a:endParaRPr lang="en-US" dirty="0"/>
          </a:p>
          <a:p>
            <a:r>
              <a:rPr lang="en-US" dirty="0"/>
              <a:t>Chamber, LCR, and DAQ have independent timing, behavior, and failure modes.</a:t>
            </a:r>
          </a:p>
          <a:p>
            <a:endParaRPr lang="en-US" dirty="0"/>
          </a:p>
          <a:p>
            <a:r>
              <a:rPr lang="en-US" dirty="0"/>
              <a:t>The Solution:</a:t>
            </a:r>
          </a:p>
          <a:p>
            <a:endParaRPr lang="en-US" dirty="0"/>
          </a:p>
          <a:p>
            <a:r>
              <a:rPr lang="en-US" dirty="0"/>
              <a:t>Implement an explicit run state workflow and safety/data integrity measures.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C5428A5-01B1-03DF-CCC8-2F81F9053DD0}"/>
              </a:ext>
            </a:extLst>
          </p:cNvPr>
          <p:cNvCxnSpPr>
            <a:cxnSpLocks/>
          </p:cNvCxnSpPr>
          <p:nvPr/>
        </p:nvCxnSpPr>
        <p:spPr>
          <a:xfrm>
            <a:off x="228600" y="1600200"/>
            <a:ext cx="0" cy="479264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9B6413-7901-FD0D-2D38-FB32C13B5BEF}"/>
              </a:ext>
            </a:extLst>
          </p:cNvPr>
          <p:cNvCxnSpPr>
            <a:cxnSpLocks/>
          </p:cNvCxnSpPr>
          <p:nvPr/>
        </p:nvCxnSpPr>
        <p:spPr>
          <a:xfrm>
            <a:off x="381000" y="1524000"/>
            <a:ext cx="3048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85B440C-1702-707A-DD06-966C7F133F96}"/>
              </a:ext>
            </a:extLst>
          </p:cNvPr>
          <p:cNvCxnSpPr>
            <a:cxnSpLocks/>
          </p:cNvCxnSpPr>
          <p:nvPr/>
        </p:nvCxnSpPr>
        <p:spPr>
          <a:xfrm>
            <a:off x="381000" y="6392848"/>
            <a:ext cx="3048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756A5B3-0468-7F31-923E-B3CDD5A18218}"/>
              </a:ext>
            </a:extLst>
          </p:cNvPr>
          <p:cNvCxnSpPr>
            <a:cxnSpLocks/>
          </p:cNvCxnSpPr>
          <p:nvPr/>
        </p:nvCxnSpPr>
        <p:spPr>
          <a:xfrm>
            <a:off x="3581400" y="1600200"/>
            <a:ext cx="0" cy="479264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28779C0-B022-3362-8664-5A595BCE87B0}"/>
              </a:ext>
            </a:extLst>
          </p:cNvPr>
          <p:cNvSpPr txBox="1"/>
          <p:nvPr/>
        </p:nvSpPr>
        <p:spPr>
          <a:xfrm>
            <a:off x="4344543" y="1684352"/>
            <a:ext cx="32766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Thermal Lag</a:t>
            </a:r>
            <a:endParaRPr lang="en-US" sz="1600" dirty="0"/>
          </a:p>
          <a:p>
            <a:endParaRPr lang="en-US" sz="1400" dirty="0"/>
          </a:p>
          <a:p>
            <a:endParaRPr lang="en-US" dirty="0"/>
          </a:p>
          <a:p>
            <a:r>
              <a:rPr lang="en-US" dirty="0"/>
              <a:t>The Problem:</a:t>
            </a:r>
          </a:p>
          <a:p>
            <a:endParaRPr lang="en-US" dirty="0"/>
          </a:p>
          <a:p>
            <a:r>
              <a:rPr lang="en-US" dirty="0"/>
              <a:t>Chamber setpoint doesn’t guarantee the DUT is at target temperature.</a:t>
            </a:r>
          </a:p>
          <a:p>
            <a:endParaRPr lang="en-US" dirty="0"/>
          </a:p>
          <a:p>
            <a:r>
              <a:rPr lang="en-US" dirty="0"/>
              <a:t>The Solution:</a:t>
            </a:r>
          </a:p>
          <a:p>
            <a:endParaRPr lang="en-US" dirty="0"/>
          </a:p>
          <a:p>
            <a:r>
              <a:rPr lang="en-US" dirty="0"/>
              <a:t>Use a 2-stage measurement gate to confirm DUT is within tolerated temperature.</a:t>
            </a:r>
          </a:p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5AFD448-AF4F-8A44-D227-4473F4EF2CDB}"/>
              </a:ext>
            </a:extLst>
          </p:cNvPr>
          <p:cNvCxnSpPr>
            <a:cxnSpLocks/>
          </p:cNvCxnSpPr>
          <p:nvPr/>
        </p:nvCxnSpPr>
        <p:spPr>
          <a:xfrm>
            <a:off x="4192143" y="1600200"/>
            <a:ext cx="0" cy="479264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CB21EF7-5A09-2FDC-F265-5AFEDC3D5EEB}"/>
              </a:ext>
            </a:extLst>
          </p:cNvPr>
          <p:cNvCxnSpPr>
            <a:cxnSpLocks/>
          </p:cNvCxnSpPr>
          <p:nvPr/>
        </p:nvCxnSpPr>
        <p:spPr>
          <a:xfrm>
            <a:off x="4344543" y="1524000"/>
            <a:ext cx="3048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46B43E-4FD9-AB6A-5869-D3CC6A10AC80}"/>
              </a:ext>
            </a:extLst>
          </p:cNvPr>
          <p:cNvCxnSpPr>
            <a:cxnSpLocks/>
          </p:cNvCxnSpPr>
          <p:nvPr/>
        </p:nvCxnSpPr>
        <p:spPr>
          <a:xfrm>
            <a:off x="4344543" y="6392848"/>
            <a:ext cx="3048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462B1D-81AF-DF29-445C-9B98C4C699E4}"/>
              </a:ext>
            </a:extLst>
          </p:cNvPr>
          <p:cNvCxnSpPr>
            <a:cxnSpLocks/>
          </p:cNvCxnSpPr>
          <p:nvPr/>
        </p:nvCxnSpPr>
        <p:spPr>
          <a:xfrm>
            <a:off x="7544943" y="1600200"/>
            <a:ext cx="0" cy="479264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DE53766-B985-8EAF-DDDF-BC0ADCCBFA4B}"/>
              </a:ext>
            </a:extLst>
          </p:cNvPr>
          <p:cNvSpPr txBox="1"/>
          <p:nvPr/>
        </p:nvSpPr>
        <p:spPr>
          <a:xfrm>
            <a:off x="8269987" y="1684352"/>
            <a:ext cx="3276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Extending to Multi-DUT</a:t>
            </a:r>
            <a:endParaRPr lang="en-US" dirty="0"/>
          </a:p>
          <a:p>
            <a:endParaRPr lang="en-US" dirty="0"/>
          </a:p>
          <a:p>
            <a:endParaRPr lang="en-US" sz="1600" dirty="0"/>
          </a:p>
          <a:p>
            <a:r>
              <a:rPr lang="en-US" dirty="0"/>
              <a:t>The Problem:</a:t>
            </a:r>
          </a:p>
          <a:p>
            <a:endParaRPr lang="en-US" dirty="0"/>
          </a:p>
          <a:p>
            <a:r>
              <a:rPr lang="en-US" dirty="0"/>
              <a:t>Single device testing limits throughput.</a:t>
            </a:r>
          </a:p>
          <a:p>
            <a:endParaRPr lang="en-US" dirty="0"/>
          </a:p>
          <a:p>
            <a:r>
              <a:rPr lang="en-US" dirty="0"/>
              <a:t>The Solution:</a:t>
            </a:r>
          </a:p>
          <a:p>
            <a:endParaRPr lang="en-US" dirty="0"/>
          </a:p>
          <a:p>
            <a:r>
              <a:rPr lang="en-US" dirty="0"/>
              <a:t>DAQ controlled multiprobe selection to allow for multiple DUTs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97B11A-5736-968F-D1D8-83F543F36858}"/>
              </a:ext>
            </a:extLst>
          </p:cNvPr>
          <p:cNvCxnSpPr>
            <a:cxnSpLocks/>
          </p:cNvCxnSpPr>
          <p:nvPr/>
        </p:nvCxnSpPr>
        <p:spPr>
          <a:xfrm>
            <a:off x="8117587" y="1600200"/>
            <a:ext cx="0" cy="479264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12D2CF-9A31-8E14-4A42-005A6FE4CB96}"/>
              </a:ext>
            </a:extLst>
          </p:cNvPr>
          <p:cNvCxnSpPr>
            <a:cxnSpLocks/>
          </p:cNvCxnSpPr>
          <p:nvPr/>
        </p:nvCxnSpPr>
        <p:spPr>
          <a:xfrm>
            <a:off x="8269987" y="1524000"/>
            <a:ext cx="3048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B93B3B8-DE42-6E04-1B68-792F4A5B4CB9}"/>
              </a:ext>
            </a:extLst>
          </p:cNvPr>
          <p:cNvCxnSpPr>
            <a:cxnSpLocks/>
          </p:cNvCxnSpPr>
          <p:nvPr/>
        </p:nvCxnSpPr>
        <p:spPr>
          <a:xfrm>
            <a:off x="8269987" y="6392848"/>
            <a:ext cx="3048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0CE12B1-8832-2332-E68F-1DCFEE39A6A4}"/>
              </a:ext>
            </a:extLst>
          </p:cNvPr>
          <p:cNvCxnSpPr>
            <a:cxnSpLocks/>
          </p:cNvCxnSpPr>
          <p:nvPr/>
        </p:nvCxnSpPr>
        <p:spPr>
          <a:xfrm>
            <a:off x="11470387" y="1600200"/>
            <a:ext cx="0" cy="479264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48477723-585C-1E49-15F0-239F4EA7AC15}"/>
              </a:ext>
            </a:extLst>
          </p:cNvPr>
          <p:cNvSpPr/>
          <p:nvPr/>
        </p:nvSpPr>
        <p:spPr>
          <a:xfrm>
            <a:off x="10668000" y="651677"/>
            <a:ext cx="1219189" cy="8302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6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provided text describes a class in Python with various enumerated states representing different phases of a process in a programmable system.&#10;&#10;AI-generated content may be incorrect.">
            <a:extLst>
              <a:ext uri="{FF2B5EF4-FFF2-40B4-BE49-F238E27FC236}">
                <a16:creationId xmlns:a16="http://schemas.microsoft.com/office/drawing/2014/main" id="{394C391C-133E-605D-281D-3EFAE9193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42" y="1449324"/>
            <a:ext cx="5872070" cy="4191000"/>
          </a:xfrm>
          <a:prstGeom prst="rect">
            <a:avLst/>
          </a:prstGeom>
        </p:spPr>
      </p:pic>
      <p:pic>
        <p:nvPicPr>
          <p:cNvPr id="6" name="Picture 5" descr="The image depicts a thermal lag comparison between a chamber and a user probe during a 45ￂﾰC step, showing the temperature difference over time.&#10;&#10;AI-generated content may be incorrect.">
            <a:extLst>
              <a:ext uri="{FF2B5EF4-FFF2-40B4-BE49-F238E27FC236}">
                <a16:creationId xmlns:a16="http://schemas.microsoft.com/office/drawing/2014/main" id="{FF219D59-FBA9-5372-F123-47946E23C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830" y="152400"/>
            <a:ext cx="5292055" cy="2667000"/>
          </a:xfrm>
          <a:prstGeom prst="rect">
            <a:avLst/>
          </a:prstGeom>
        </p:spPr>
      </p:pic>
      <p:pic>
        <p:nvPicPr>
          <p:cNvPr id="7" name="Picture 6" descr="The image displays a table with a list of probe configurations for binary patterns, showing the decimal equivalents and combinations of active lines.&#10;&#10;AI-generated content may be incorrect.">
            <a:extLst>
              <a:ext uri="{FF2B5EF4-FFF2-40B4-BE49-F238E27FC236}">
                <a16:creationId xmlns:a16="http://schemas.microsoft.com/office/drawing/2014/main" id="{B9D49555-3412-438F-5B59-2F48B793B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971800"/>
            <a:ext cx="4743458" cy="26128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B5BBB8-D372-2F0F-F744-C294C33E85A3}"/>
              </a:ext>
            </a:extLst>
          </p:cNvPr>
          <p:cNvSpPr txBox="1"/>
          <p:nvPr/>
        </p:nvSpPr>
        <p:spPr>
          <a:xfrm>
            <a:off x="30480" y="152400"/>
            <a:ext cx="3214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Technical Evidence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D8ED36-E4D7-C6FE-78BB-DECB1D7B544D}"/>
              </a:ext>
            </a:extLst>
          </p:cNvPr>
          <p:cNvCxnSpPr>
            <a:cxnSpLocks/>
          </p:cNvCxnSpPr>
          <p:nvPr/>
        </p:nvCxnSpPr>
        <p:spPr>
          <a:xfrm flipV="1">
            <a:off x="0" y="533400"/>
            <a:ext cx="4394676" cy="6858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3930E6-2D54-E0CA-45ED-1951890B4101}"/>
              </a:ext>
            </a:extLst>
          </p:cNvPr>
          <p:cNvCxnSpPr>
            <a:cxnSpLocks/>
          </p:cNvCxnSpPr>
          <p:nvPr/>
        </p:nvCxnSpPr>
        <p:spPr>
          <a:xfrm>
            <a:off x="3563174" y="0"/>
            <a:ext cx="831502" cy="5334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2D257D7-F1EA-C125-46EE-38A72884FCAC}"/>
              </a:ext>
            </a:extLst>
          </p:cNvPr>
          <p:cNvCxnSpPr>
            <a:cxnSpLocks/>
          </p:cNvCxnSpPr>
          <p:nvPr/>
        </p:nvCxnSpPr>
        <p:spPr>
          <a:xfrm flipH="1" flipV="1">
            <a:off x="2991664" y="0"/>
            <a:ext cx="894536" cy="6096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52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995B3D-1AF1-D14A-43AB-B3EE4B44522F}"/>
              </a:ext>
            </a:extLst>
          </p:cNvPr>
          <p:cNvSpPr txBox="1">
            <a:spLocks/>
          </p:cNvSpPr>
          <p:nvPr/>
        </p:nvSpPr>
        <p:spPr>
          <a:xfrm>
            <a:off x="76200" y="-533400"/>
            <a:ext cx="6397753" cy="15279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11000" b="0" i="0" kern="1200" cap="all" spc="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Key deliverables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FAB3D0-C129-DCF8-6BB3-E51A7A2D836E}"/>
              </a:ext>
            </a:extLst>
          </p:cNvPr>
          <p:cNvSpPr txBox="1">
            <a:spLocks/>
          </p:cNvSpPr>
          <p:nvPr/>
        </p:nvSpPr>
        <p:spPr>
          <a:xfrm>
            <a:off x="1447800" y="974168"/>
            <a:ext cx="8458200" cy="4259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Primary developer for the end-to-end HT-BDS software/control platform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D01543-6BD6-9AD0-280E-14150EB9670E}"/>
              </a:ext>
            </a:extLst>
          </p:cNvPr>
          <p:cNvCxnSpPr>
            <a:cxnSpLocks/>
          </p:cNvCxnSpPr>
          <p:nvPr/>
        </p:nvCxnSpPr>
        <p:spPr>
          <a:xfrm>
            <a:off x="76200" y="914400"/>
            <a:ext cx="66294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884469-2885-E439-E4D1-67EC08A21575}"/>
              </a:ext>
            </a:extLst>
          </p:cNvPr>
          <p:cNvCxnSpPr>
            <a:cxnSpLocks/>
          </p:cNvCxnSpPr>
          <p:nvPr/>
        </p:nvCxnSpPr>
        <p:spPr>
          <a:xfrm>
            <a:off x="1295400" y="1400166"/>
            <a:ext cx="79248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1CB1D5-7CEE-14D7-FA59-DA197B72D957}"/>
              </a:ext>
            </a:extLst>
          </p:cNvPr>
          <p:cNvSpPr txBox="1"/>
          <p:nvPr/>
        </p:nvSpPr>
        <p:spPr>
          <a:xfrm>
            <a:off x="855887" y="5624762"/>
            <a:ext cx="9688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Relevance: Hardware automation, instrument control, environmental testing, data acquisition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B0A130-D18C-9197-D4E6-F8209BF636C2}"/>
              </a:ext>
            </a:extLst>
          </p:cNvPr>
          <p:cNvSpPr txBox="1"/>
          <p:nvPr/>
        </p:nvSpPr>
        <p:spPr>
          <a:xfrm>
            <a:off x="9220200" y="217375"/>
            <a:ext cx="278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Example Excel Workbook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82440A-87DD-673C-F6F2-1D30BDB5865E}"/>
              </a:ext>
            </a:extLst>
          </p:cNvPr>
          <p:cNvSpPr txBox="1"/>
          <p:nvPr/>
        </p:nvSpPr>
        <p:spPr>
          <a:xfrm>
            <a:off x="834551" y="2058660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4x Throughput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D3E5E2-1010-0CB8-DD73-A9DD894E4175}"/>
              </a:ext>
            </a:extLst>
          </p:cNvPr>
          <p:cNvSpPr txBox="1"/>
          <p:nvPr/>
        </p:nvSpPr>
        <p:spPr>
          <a:xfrm>
            <a:off x="4477591" y="1858755"/>
            <a:ext cx="2659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~75% reduction in time</a:t>
            </a:r>
          </a:p>
          <a:p>
            <a:pPr algn="ctr"/>
            <a:r>
              <a:rPr lang="en-US" dirty="0">
                <a:solidFill>
                  <a:schemeClr val="accent4"/>
                </a:solidFill>
              </a:rPr>
              <a:t>per-DUT-chamber cycle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E4CF3-687C-98A0-69B1-8152A16A5649}"/>
              </a:ext>
            </a:extLst>
          </p:cNvPr>
          <p:cNvSpPr txBox="1"/>
          <p:nvPr/>
        </p:nvSpPr>
        <p:spPr>
          <a:xfrm>
            <a:off x="8548897" y="1883521"/>
            <a:ext cx="2714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Designed for unattended</a:t>
            </a:r>
          </a:p>
          <a:p>
            <a:pPr algn="ctr"/>
            <a:r>
              <a:rPr lang="en-US" dirty="0">
                <a:solidFill>
                  <a:schemeClr val="accent4"/>
                </a:solidFill>
              </a:rPr>
              <a:t>execution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4BC5CC-E1CA-DA73-5310-BAAAB5A1B759}"/>
              </a:ext>
            </a:extLst>
          </p:cNvPr>
          <p:cNvCxnSpPr>
            <a:cxnSpLocks/>
          </p:cNvCxnSpPr>
          <p:nvPr/>
        </p:nvCxnSpPr>
        <p:spPr>
          <a:xfrm>
            <a:off x="682151" y="1920161"/>
            <a:ext cx="0" cy="62156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056105-A756-D2FF-4DB0-E5549BD6658E}"/>
              </a:ext>
            </a:extLst>
          </p:cNvPr>
          <p:cNvCxnSpPr>
            <a:cxnSpLocks/>
          </p:cNvCxnSpPr>
          <p:nvPr/>
        </p:nvCxnSpPr>
        <p:spPr>
          <a:xfrm>
            <a:off x="2663351" y="1944927"/>
            <a:ext cx="0" cy="62156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054B79B-2C8F-9974-08D9-094C98405B34}"/>
              </a:ext>
            </a:extLst>
          </p:cNvPr>
          <p:cNvCxnSpPr>
            <a:cxnSpLocks/>
          </p:cNvCxnSpPr>
          <p:nvPr/>
        </p:nvCxnSpPr>
        <p:spPr>
          <a:xfrm>
            <a:off x="834551" y="1865236"/>
            <a:ext cx="1725165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2EC81E3-7CA1-8548-12A2-A7712724A30C}"/>
              </a:ext>
            </a:extLst>
          </p:cNvPr>
          <p:cNvCxnSpPr>
            <a:cxnSpLocks/>
          </p:cNvCxnSpPr>
          <p:nvPr/>
        </p:nvCxnSpPr>
        <p:spPr>
          <a:xfrm>
            <a:off x="804087" y="2606653"/>
            <a:ext cx="1725165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DAE2B7-7DF9-CCEB-7F0F-25217664EA7C}"/>
              </a:ext>
            </a:extLst>
          </p:cNvPr>
          <p:cNvCxnSpPr>
            <a:cxnSpLocks/>
          </p:cNvCxnSpPr>
          <p:nvPr/>
        </p:nvCxnSpPr>
        <p:spPr>
          <a:xfrm>
            <a:off x="4452244" y="1828596"/>
            <a:ext cx="2659702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7DCA2D-DCD8-0B64-ABE8-A816A4FC09BA}"/>
              </a:ext>
            </a:extLst>
          </p:cNvPr>
          <p:cNvCxnSpPr>
            <a:cxnSpLocks/>
          </p:cNvCxnSpPr>
          <p:nvPr/>
        </p:nvCxnSpPr>
        <p:spPr>
          <a:xfrm>
            <a:off x="4452244" y="2581452"/>
            <a:ext cx="2659702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3444E7C-D5DD-6767-3DC6-E035FFCC384E}"/>
              </a:ext>
            </a:extLst>
          </p:cNvPr>
          <p:cNvCxnSpPr>
            <a:cxnSpLocks/>
          </p:cNvCxnSpPr>
          <p:nvPr/>
        </p:nvCxnSpPr>
        <p:spPr>
          <a:xfrm>
            <a:off x="4376044" y="1883521"/>
            <a:ext cx="0" cy="62156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F2D9280-8EEE-B4F1-0137-827268B4C855}"/>
              </a:ext>
            </a:extLst>
          </p:cNvPr>
          <p:cNvCxnSpPr>
            <a:cxnSpLocks/>
          </p:cNvCxnSpPr>
          <p:nvPr/>
        </p:nvCxnSpPr>
        <p:spPr>
          <a:xfrm>
            <a:off x="7191795" y="1908287"/>
            <a:ext cx="0" cy="62156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9D4ED05-4919-0A6D-3A99-ED2F61D34D88}"/>
              </a:ext>
            </a:extLst>
          </p:cNvPr>
          <p:cNvSpPr/>
          <p:nvPr/>
        </p:nvSpPr>
        <p:spPr>
          <a:xfrm>
            <a:off x="461931" y="3331531"/>
            <a:ext cx="2470404" cy="15665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Software Contro</a:t>
            </a:r>
            <a:r>
              <a:rPr lang="en-US" dirty="0">
                <a:solidFill>
                  <a:schemeClr val="bg1"/>
                </a:solidFill>
              </a:rPr>
              <a:t>l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marL="171450" indent="-171450" algn="ctr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Run-state workflow</a:t>
            </a:r>
          </a:p>
          <a:p>
            <a:pPr marL="171450" indent="-171450" algn="ctr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Setup locking</a:t>
            </a:r>
          </a:p>
          <a:p>
            <a:pPr marL="171450" indent="-171450" algn="ctr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Chamber/LCR sequencing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71262DB-DF65-752E-C2A9-1F698FFECA8F}"/>
              </a:ext>
            </a:extLst>
          </p:cNvPr>
          <p:cNvSpPr/>
          <p:nvPr/>
        </p:nvSpPr>
        <p:spPr>
          <a:xfrm>
            <a:off x="4566364" y="3310714"/>
            <a:ext cx="2470404" cy="15665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Multiprobe DAQ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marL="171450" indent="-171450" algn="ctr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Probe tagged measurements</a:t>
            </a:r>
          </a:p>
          <a:p>
            <a:pPr marL="171450" indent="-171450" algn="ctr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Switching logic</a:t>
            </a:r>
          </a:p>
          <a:p>
            <a:pPr marL="171450" indent="-171450" algn="ctr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All-off state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497257-81D0-692D-60CB-B43595639568}"/>
              </a:ext>
            </a:extLst>
          </p:cNvPr>
          <p:cNvSpPr/>
          <p:nvPr/>
        </p:nvSpPr>
        <p:spPr>
          <a:xfrm>
            <a:off x="8670798" y="3327253"/>
            <a:ext cx="2470404" cy="15665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Data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marL="171450" indent="-171450" algn="ctr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Metadata</a:t>
            </a:r>
          </a:p>
          <a:p>
            <a:pPr marL="171450" indent="-171450" algn="ctr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Summary metrics</a:t>
            </a:r>
          </a:p>
          <a:p>
            <a:pPr marL="171450" indent="-171450" algn="ctr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Traceability</a:t>
            </a:r>
          </a:p>
          <a:p>
            <a:pPr marL="171450" indent="-171450" algn="ctr">
              <a:buFontTx/>
              <a:buChar char="-"/>
            </a:pP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9FB0E92-3F95-A1F0-DFFB-66FE11976825}"/>
              </a:ext>
            </a:extLst>
          </p:cNvPr>
          <p:cNvCxnSpPr>
            <a:cxnSpLocks/>
          </p:cNvCxnSpPr>
          <p:nvPr/>
        </p:nvCxnSpPr>
        <p:spPr>
          <a:xfrm>
            <a:off x="8649772" y="1828800"/>
            <a:ext cx="251245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76B7E24-D88D-C82E-0E81-221D9FF9DC15}"/>
              </a:ext>
            </a:extLst>
          </p:cNvPr>
          <p:cNvCxnSpPr>
            <a:cxnSpLocks/>
          </p:cNvCxnSpPr>
          <p:nvPr/>
        </p:nvCxnSpPr>
        <p:spPr>
          <a:xfrm>
            <a:off x="8670798" y="2554300"/>
            <a:ext cx="251245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79375A0-7C9C-2C72-8F76-DF0EB801C16B}"/>
              </a:ext>
            </a:extLst>
          </p:cNvPr>
          <p:cNvCxnSpPr>
            <a:cxnSpLocks/>
          </p:cNvCxnSpPr>
          <p:nvPr/>
        </p:nvCxnSpPr>
        <p:spPr>
          <a:xfrm>
            <a:off x="8548897" y="1865236"/>
            <a:ext cx="0" cy="62156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7A209C9-45E4-D16F-8A38-5E5F1FE8E342}"/>
              </a:ext>
            </a:extLst>
          </p:cNvPr>
          <p:cNvCxnSpPr>
            <a:cxnSpLocks/>
          </p:cNvCxnSpPr>
          <p:nvPr/>
        </p:nvCxnSpPr>
        <p:spPr>
          <a:xfrm>
            <a:off x="11263102" y="1895905"/>
            <a:ext cx="0" cy="62156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595126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230e9df3-be65-4c73-a93b-d1236ebd677e"/>
    <ds:schemaRef ds:uri="http://schemas.openxmlformats.org/package/2006/metadata/core-properties"/>
    <ds:schemaRef ds:uri="http://purl.org/dc/elements/1.1/"/>
    <ds:schemaRef ds:uri="http://schemas.microsoft.com/sharepoint/v3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71af3243-3dd4-4a8d-8c0d-dd76da1f02a5"/>
    <ds:schemaRef ds:uri="16c05727-aa75-4e4a-9b5f-8a80a1165891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Matthew Wang - HTBDS</Template>
  <TotalTime>3091</TotalTime>
  <Words>354</Words>
  <Application>Microsoft Office PowerPoint</Application>
  <PresentationFormat>Widescreen</PresentationFormat>
  <Paragraphs>124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Bahnschrift SemiLight</vt:lpstr>
      <vt:lpstr>Blockwork elegance</vt:lpstr>
      <vt:lpstr>HT-BDS High Temperature Broadband Dielectric Spectroscopy         An Automated High Temperature Capacitor Characterization System</vt:lpstr>
      <vt:lpstr>PowerPoint Presentation</vt:lpstr>
      <vt:lpstr>PowerPoint Presentation</vt:lpstr>
      <vt:lpstr>Test bench setup  Left to right: HT-BDS GUI, Keysight LCR, SunSystems Oven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Wang</dc:creator>
  <cp:lastModifiedBy>Matthew Wang</cp:lastModifiedBy>
  <cp:revision>1</cp:revision>
  <cp:lastPrinted>2026-06-23T02:07:20Z</cp:lastPrinted>
  <dcterms:created xsi:type="dcterms:W3CDTF">2026-06-20T22:40:16Z</dcterms:created>
  <dcterms:modified xsi:type="dcterms:W3CDTF">2026-06-23T02:11:59Z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